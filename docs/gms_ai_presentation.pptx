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Clustering Performance Metrics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Clustering Accuracy</c:v>
                </c:pt>
              </c:strCache>
            </c:strRef>
          </c:tx>
          <c:spPr>
            <a:solidFill>
              <a:srgbClr val="667EE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Module Purity</c:v>
                  </c:pt>
                  <c:pt idx="1">
                    <c:v>Outlier Ratio</c:v>
                  </c:pt>
                  <c:pt idx="2">
                    <c:v>Silhouette Score</c:v>
                  </c:pt>
                  <c:pt idx="3">
                    <c:v>Time (sec)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5</c:v>
                </c:pt>
                <c:pt idx="2">
                  <c:v>25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Metric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Value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Analysis Time Comparison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Manual Analysis</c:v>
                </c:pt>
              </c:strCache>
            </c:strRef>
          </c:tx>
          <c:spPr>
            <a:solidFill>
              <a:srgbClr val="FF6B9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Time (hours)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AI-Powered Analysis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Time (hours)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Workflow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Hours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gms_presentation/assets/brain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01" y="1120825"/>
            <a:ext cx="1015901" cy="101590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452" y="2428726"/>
            <a:ext cx="8360947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GMS Test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391452" y="3257401"/>
            <a:ext cx="836094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Failure Diagnosis Platform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91452" y="3835152"/>
            <a:ext cx="836094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i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Transforming Days of Manual Analysis into Minutes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222325"/>
            <a:ext cx="8382000" cy="1147763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28625" y="1222325"/>
            <a:ext cx="0" cy="1147763"/>
          </a:xfrm>
          <a:prstGeom prst="line">
            <a:avLst/>
          </a:prstGeom>
          <a:noFill/>
          <a:ln w="95250">
            <a:solidFill>
              <a:srgbClr val="FF6B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0151" y="1476226"/>
            <a:ext cx="793452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GMS certification analysis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time-consuming, error-prone, and resource-intensive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2623989"/>
            <a:ext cx="2667000" cy="1495127"/>
          </a:xfrm>
          <a:prstGeom prst="roundRect">
            <a:avLst>
              <a:gd name="adj" fmla="val 67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3309" y="2877889"/>
            <a:ext cx="22023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days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13309" y="3446115"/>
            <a:ext cx="220238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work per submission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38500" y="2623989"/>
            <a:ext cx="2667000" cy="1495127"/>
          </a:xfrm>
          <a:prstGeom prst="roundRect">
            <a:avLst>
              <a:gd name="adj" fmla="val 67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70809" y="2877889"/>
            <a:ext cx="22023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0809" y="3446115"/>
            <a:ext cx="22023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failures to analyze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6000" y="2623989"/>
            <a:ext cx="2667000" cy="1495127"/>
          </a:xfrm>
          <a:prstGeom prst="roundRect">
            <a:avLst>
              <a:gd name="adj" fmla="val 679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28309" y="2877889"/>
            <a:ext cx="22023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FF6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28309" y="3446115"/>
            <a:ext cx="22023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 risk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Three-Layer Intelligence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222325"/>
            <a:ext cx="8382000" cy="1025426"/>
          </a:xfrm>
          <a:prstGeom prst="roundRect">
            <a:avLst>
              <a:gd name="adj" fmla="val 99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19100" y="1222325"/>
            <a:ext cx="0" cy="1025426"/>
          </a:xfrm>
          <a:prstGeom prst="line">
            <a:avLst/>
          </a:prstGeom>
          <a:noFill/>
          <a:ln w="76200">
            <a:solidFill>
              <a:srgbClr val="16A085"/>
            </a:solidFill>
            <a:prstDash val="solid"/>
          </a:ln>
        </p:spPr>
      </p:sp>
      <p:pic>
        <p:nvPicPr>
          <p:cNvPr id="5" name="Image 0" descr="/private/tmp/gms_presentation/assets/speed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0989"/>
            <a:ext cx="507950" cy="5079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84250" y="1450925"/>
            <a:ext cx="72931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Smart Parsing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84250" y="1809601"/>
            <a:ext cx="72931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XML processing offloads GB-sized files from server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1000" y="2400151"/>
            <a:ext cx="8382000" cy="1025426"/>
          </a:xfrm>
          <a:prstGeom prst="roundRect">
            <a:avLst>
              <a:gd name="adj" fmla="val 99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419100" y="2400151"/>
            <a:ext cx="0" cy="1025426"/>
          </a:xfrm>
          <a:prstGeom prst="line">
            <a:avLst/>
          </a:prstGeom>
          <a:noFill/>
          <a:ln w="76200">
            <a:solidFill>
              <a:srgbClr val="667EEA"/>
            </a:solidFill>
            <a:prstDash val="solid"/>
          </a:ln>
        </p:spPr>
      </p:sp>
      <p:pic>
        <p:nvPicPr>
          <p:cNvPr id="10" name="Image 1" descr="/private/tmp/gms_presentation/assets/cluster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58814"/>
            <a:ext cx="507950" cy="5079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84250" y="2628751"/>
            <a:ext cx="72931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Smart Clustering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1384250" y="2987427"/>
            <a:ext cx="72931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Module-first HDBSCAN algorithm achieves 100% purity grouping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81000" y="3577977"/>
            <a:ext cx="8382000" cy="1025426"/>
          </a:xfrm>
          <a:prstGeom prst="roundRect">
            <a:avLst>
              <a:gd name="adj" fmla="val 99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419100" y="3577977"/>
            <a:ext cx="0" cy="1025426"/>
          </a:xfrm>
          <a:prstGeom prst="line">
            <a:avLst/>
          </a:prstGeom>
          <a:noFill/>
          <a:ln w="76200">
            <a:solidFill>
              <a:srgbClr val="FF6B9D"/>
            </a:solidFill>
            <a:prstDash val="solid"/>
          </a:ln>
        </p:spPr>
      </p:sp>
      <p:pic>
        <p:nvPicPr>
          <p:cNvPr id="15" name="Image 2" descr="/private/tmp/gms_presentation/assets/brain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836640"/>
            <a:ext cx="507950" cy="5079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84250" y="3806577"/>
            <a:ext cx="729315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Smart Diagnosis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1384250" y="4165253"/>
            <a:ext cx="729315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Multi-LLM backend with Android BSP domain-specific prompts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Clustering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17450" y="1069925"/>
            <a:ext cx="4445198" cy="653951"/>
          </a:xfrm>
          <a:prstGeom prst="roundRect">
            <a:avLst>
              <a:gd name="adj" fmla="val 116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41263" y="1069925"/>
            <a:ext cx="0" cy="653951"/>
          </a:xfrm>
          <a:prstGeom prst="line">
            <a:avLst/>
          </a:prstGeom>
          <a:noFill/>
          <a:ln w="47625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2026" y="1196876"/>
            <a:ext cx="42265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Module-First Hierarchical HDBSCAN:</a:t>
            </a:r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Guarantees per-module isolation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7450" y="1825377"/>
            <a:ext cx="4445198" cy="653951"/>
          </a:xfrm>
          <a:prstGeom prst="roundRect">
            <a:avLst>
              <a:gd name="adj" fmla="val 116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41263" y="1825377"/>
            <a:ext cx="0" cy="653951"/>
          </a:xfrm>
          <a:prstGeom prst="line">
            <a:avLst/>
          </a:prstGeom>
          <a:noFill/>
          <a:ln w="47625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2026" y="1952327"/>
            <a:ext cx="42265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 SVD Feature Engineering:</a:t>
            </a:r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Extracts domain-aware patterns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7450" y="2580829"/>
            <a:ext cx="4445198" cy="653951"/>
          </a:xfrm>
          <a:prstGeom prst="roundRect">
            <a:avLst>
              <a:gd name="adj" fmla="val 116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41263" y="2580829"/>
            <a:ext cx="0" cy="653951"/>
          </a:xfrm>
          <a:prstGeom prst="line">
            <a:avLst/>
          </a:prstGeom>
          <a:noFill/>
          <a:ln w="47625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2026" y="2707779"/>
            <a:ext cx="42265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Cluster Discovery:</a:t>
            </a:r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manual tuning required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7450" y="3336280"/>
            <a:ext cx="4445198" cy="653951"/>
          </a:xfrm>
          <a:prstGeom prst="roundRect">
            <a:avLst>
              <a:gd name="adj" fmla="val 116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41263" y="3336280"/>
            <a:ext cx="0" cy="653951"/>
          </a:xfrm>
          <a:prstGeom prst="line">
            <a:avLst/>
          </a:prstGeom>
          <a:noFill/>
          <a:ln w="47625">
            <a:solidFill>
              <a:srgbClr val="667E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026" y="3463230"/>
            <a:ext cx="42265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Frame Filtering:</a:t>
            </a:r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Removes JUnit noise for clarity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17450" y="4091732"/>
            <a:ext cx="4445198" cy="653951"/>
          </a:xfrm>
          <a:prstGeom prst="roundRect">
            <a:avLst>
              <a:gd name="adj" fmla="val 1165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41263" y="4091732"/>
            <a:ext cx="0" cy="653951"/>
          </a:xfrm>
          <a:prstGeom prst="line">
            <a:avLst/>
          </a:prstGeom>
          <a:noFill/>
          <a:ln w="47625">
            <a:solidFill>
              <a:srgbClr val="667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2026" y="4218682"/>
            <a:ext cx="422654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Type Weighting:</a:t>
            </a:r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Prioritizes specific over generic errors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016550" y="1069925"/>
          <a:ext cx="38100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 Engine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158776"/>
            <a:ext cx="2667000" cy="1149251"/>
          </a:xfrm>
          <a:prstGeom prst="roundRect">
            <a:avLst>
              <a:gd name="adj" fmla="val 88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8640" y="1349276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717477"/>
            <a:ext cx="23317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 for external deployments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38500" y="1158776"/>
            <a:ext cx="2667000" cy="1149251"/>
          </a:xfrm>
          <a:prstGeom prst="roundRect">
            <a:avLst>
              <a:gd name="adj" fmla="val 88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06140" y="1349276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06140" y="1717477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Ollama/vLLM for on-premise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0" y="1158776"/>
            <a:ext cx="2667000" cy="1149251"/>
          </a:xfrm>
          <a:prstGeom prst="roundRect">
            <a:avLst>
              <a:gd name="adj" fmla="val 884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63640" y="1349276"/>
            <a:ext cx="23317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Cambrian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63640" y="1717477"/>
            <a:ext cx="23317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3.3 70B gateway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1000" y="2561927"/>
            <a:ext cx="8382000" cy="2422327"/>
          </a:xfrm>
          <a:prstGeom prst="roundRect">
            <a:avLst>
              <a:gd name="adj" fmla="val 419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19100" y="2561927"/>
            <a:ext cx="0" cy="2422327"/>
          </a:xfrm>
          <a:prstGeom prst="line">
            <a:avLst/>
          </a:prstGeom>
          <a:noFill/>
          <a:ln w="76200">
            <a:solidFill>
              <a:srgbClr val="FF6B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101" y="2815828"/>
            <a:ext cx="795395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0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Analysis Output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1101" y="3301603"/>
            <a:ext cx="7797998" cy="13525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Technical explanation with numbered diagnosis</a:t>
            </a:r>
            <a:endParaRPr lang="en-US" sz="14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Step-by-step remediation actions</a:t>
            </a:r>
            <a:endParaRPr lang="en-US" sz="14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Severity: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 / Medium / Low classification</a:t>
            </a:r>
            <a:endParaRPr lang="en-US" sz="14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Score: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1-5 based on evidence strength</a:t>
            </a:r>
            <a:endParaRPr lang="en-US" sz="1400" dirty="0"/>
          </a:p>
          <a:p>
            <a:pPr algn="l" marL="127000" indent="-1270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Category:</a:t>
            </a:r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Framework | Media | Permission |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81000" y="1158776"/>
            <a:ext cx="2667000" cy="1787277"/>
          </a:xfrm>
          <a:prstGeom prst="roundRect">
            <a:avLst>
              <a:gd name="adj" fmla="val 56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private/tmp/gms_presentation/assets/clock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300" y="1387376"/>
            <a:ext cx="444401" cy="4444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7502" y="1996827"/>
            <a:ext cx="22539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87502" y="2507903"/>
            <a:ext cx="22539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time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238500" y="1158776"/>
            <a:ext cx="2667000" cy="1787277"/>
          </a:xfrm>
          <a:prstGeom prst="roundRect">
            <a:avLst>
              <a:gd name="adj" fmla="val 56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1" descr="/private/tmp/gms_presentation/assets/check_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800" y="1387376"/>
            <a:ext cx="444401" cy="4444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45002" y="1996827"/>
            <a:ext cx="22539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3445002" y="2507903"/>
            <a:ext cx="22539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reduction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096000" y="1158776"/>
            <a:ext cx="2667000" cy="1787277"/>
          </a:xfrm>
          <a:prstGeom prst="roundRect">
            <a:avLst>
              <a:gd name="adj" fmla="val 56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/private/tmp/gms_presentation/assets/lightbulb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300" y="1387376"/>
            <a:ext cx="444401" cy="4444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2502" y="1996827"/>
            <a:ext cx="22539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4" name="Text 9"/>
          <p:cNvSpPr/>
          <p:nvPr/>
        </p:nvSpPr>
        <p:spPr>
          <a:xfrm>
            <a:off x="6302502" y="2507903"/>
            <a:ext cx="22539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81000" y="3199954"/>
            <a:ext cx="8382000" cy="1562546"/>
          </a:xfrm>
          <a:prstGeom prst="roundRect">
            <a:avLst>
              <a:gd name="adj" fmla="val 650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381000" y="3199954"/>
          <a:ext cx="8382000" cy="156254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382000" cy="4381500"/>
          </a:xfrm>
          <a:prstGeom prst="roundRect">
            <a:avLst>
              <a:gd name="adj" fmla="val 3478"/>
            </a:avLst>
          </a:prstGeom>
          <a:solidFill>
            <a:srgbClr val="3449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507950"/>
            <a:ext cx="829066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07950" y="1349276"/>
            <a:ext cx="8128099" cy="619125"/>
          </a:xfrm>
          <a:prstGeom prst="roundRect">
            <a:avLst>
              <a:gd name="adj" fmla="val 1641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6050" y="1349276"/>
            <a:ext cx="0" cy="619125"/>
          </a:xfrm>
          <a:prstGeom prst="line">
            <a:avLst/>
          </a:prstGeom>
          <a:noFill/>
          <a:ln w="762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4650" y="1539776"/>
            <a:ext cx="78243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NLQ:</a:t>
            </a:r>
            <a:pPr algn="l" indent="0" marL="0"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Natural language querying for test history analysis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2120801"/>
            <a:ext cx="8128099" cy="619125"/>
          </a:xfrm>
          <a:prstGeom prst="roundRect">
            <a:avLst>
              <a:gd name="adj" fmla="val 1641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46050" y="2120801"/>
            <a:ext cx="0" cy="619125"/>
          </a:xfrm>
          <a:prstGeom prst="line">
            <a:avLst/>
          </a:prstGeom>
          <a:noFill/>
          <a:ln w="76200">
            <a:solidFill>
              <a:srgbClr val="16A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4650" y="2311301"/>
            <a:ext cx="78243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LLM Support:</a:t>
            </a:r>
            <a:pPr algn="l" indent="0" marL="0"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Additional model integrations for flexibility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2892326"/>
            <a:ext cx="8128099" cy="619125"/>
          </a:xfrm>
          <a:prstGeom prst="roundRect">
            <a:avLst>
              <a:gd name="adj" fmla="val 1641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6050" y="2892326"/>
            <a:ext cx="0" cy="619125"/>
          </a:xfrm>
          <a:prstGeom prst="line">
            <a:avLst/>
          </a:prstGeom>
          <a:noFill/>
          <a:ln w="76200">
            <a:solidFill>
              <a:srgbClr val="16A0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4650" y="3082826"/>
            <a:ext cx="78243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Detection:</a:t>
            </a:r>
            <a:pPr algn="l" indent="0" marL="0"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Automatic comparison with historical submissions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7950" y="3765352"/>
            <a:ext cx="8128099" cy="831652"/>
          </a:xfrm>
          <a:prstGeom prst="roundRect">
            <a:avLst>
              <a:gd name="adj" fmla="val 1221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648" y="4019252"/>
            <a:ext cx="77727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Your GMS Testing Process?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GMS Test Analysis</dc:title>
  <dc:subject>ML/LLM Technology Demo</dc:subject>
  <dc:creator>GMS-Helper Team</dc:creator>
  <cp:lastModifiedBy>GMS-Helper Team</cp:lastModifiedBy>
  <cp:revision>1</cp:revision>
  <dcterms:created xsi:type="dcterms:W3CDTF">2026-02-08T09:05:57Z</dcterms:created>
  <dcterms:modified xsi:type="dcterms:W3CDTF">2026-02-08T09:05:57Z</dcterms:modified>
</cp:coreProperties>
</file>